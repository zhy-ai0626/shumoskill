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200000" cy="54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90000"/>
            <a:ext cx="6696000" cy="25199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总体技术路线（框 = 做什么；虚线 = 回检不过时的返工路径）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450000"/>
            <a:ext cx="151200" cy="108000"/>
          </a:xfrm>
          <a:prstGeom prst="rect">
            <a:avLst/>
          </a:prstGeom>
          <a:solidFill>
            <a:srgbClr val="F3F2EE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11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6000" y="450000"/>
            <a:ext cx="151200" cy="108000"/>
          </a:xfrm>
          <a:prstGeom prst="rect">
            <a:avLst/>
          </a:prstGeom>
          <a:solidFill>
            <a:srgbClr val="E3EEFB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43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8000" y="450000"/>
            <a:ext cx="151200" cy="108000"/>
          </a:xfrm>
          <a:prstGeom prst="rect">
            <a:avLst/>
          </a:prstGeom>
          <a:solidFill>
            <a:srgbClr val="E6F3EC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175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建模求解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450000"/>
            <a:ext cx="151200" cy="108000"/>
          </a:xfrm>
          <a:prstGeom prst="rect">
            <a:avLst/>
          </a:prstGeom>
          <a:solidFill>
            <a:srgbClr val="FAECEB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7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校验回检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2000" y="450000"/>
            <a:ext cx="151200" cy="108000"/>
          </a:xfrm>
          <a:prstGeom prst="rect">
            <a:avLst/>
          </a:prstGeom>
          <a:solidFill>
            <a:srgbClr val="FDF3D8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39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000" y="720000"/>
            <a:ext cx="6480000" cy="413999"/>
          </a:xfrm>
          <a:prstGeom prst="roundRect">
            <a:avLst/>
          </a:prstGeom>
          <a:solidFill>
            <a:srgbClr val="F3F2EE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题面 + 附件数据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" y="1350000"/>
            <a:ext cx="6480000" cy="558000"/>
          </a:xfrm>
          <a:prstGeom prst="roundRect">
            <a:avLst/>
          </a:prstGeom>
          <a:solidFill>
            <a:srgbClr val="E3EEFB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附件结构体检 → 判题型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成分？重复测量？数据口径？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2268000"/>
            <a:ext cx="2015999" cy="666000"/>
          </a:xfrm>
          <a:prstGeom prst="roundRect">
            <a:avLst/>
          </a:prstGeom>
          <a:solidFill>
            <a:srgbClr val="E6F3EC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Q1 基准模型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最简情形先跑通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8000" y="2268000"/>
            <a:ext cx="2015999" cy="666000"/>
          </a:xfrm>
          <a:prstGeom prst="roundRect">
            <a:avLst/>
          </a:prstGeom>
          <a:solidFill>
            <a:srgbClr val="E6F3EC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Q2 加不确定性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随机 / 鲁棒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6000" y="2268000"/>
            <a:ext cx="2015999" cy="666000"/>
          </a:xfrm>
          <a:prstGeom prst="roundRect">
            <a:avLst/>
          </a:prstGeom>
          <a:solidFill>
            <a:srgbClr val="E6F3EC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Q3 加耦合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变量间相关性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000" y="3348000"/>
            <a:ext cx="4752000" cy="576000"/>
          </a:xfrm>
          <a:prstGeom prst="roundRect">
            <a:avLst/>
          </a:prstGeom>
          <a:solidFill>
            <a:srgbClr val="FAECEB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跨问一致性回检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把「上界 / 不可行」类断言用最终解代回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4000" y="4140000"/>
            <a:ext cx="4752000" cy="413999"/>
          </a:xfrm>
          <a:prstGeom prst="roundRect">
            <a:avLst/>
          </a:prstGeom>
          <a:solidFill>
            <a:srgbClr val="E3EEFB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灵敏度 + 鲁棒性（按影响幅度排序）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24000" y="4752000"/>
            <a:ext cx="4752000" cy="413999"/>
          </a:xfrm>
          <a:prstGeom prst="roundRect">
            <a:avLst/>
          </a:prstGeom>
          <a:solidFill>
            <a:srgbClr val="FDF3D8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结论、决策建议与交付文件</a:t>
            </a:r>
          </a:p>
        </p:txBody>
      </p:sp>
      <p:cxnSp>
        <p:nvCxnSpPr>
          <p:cNvPr id="21" name="Connector 20"/>
          <p:cNvCxnSpPr>
            <a:stCxn id="13" idx="2"/>
            <a:endCxn id="14" idx="0"/>
          </p:cNvCxnSpPr>
          <p:nvPr/>
        </p:nvCxnSpPr>
        <p:spPr>
          <a:xfrm flipH="1">
            <a:off x="3600000" y="1133999"/>
            <a:ext cx="0" cy="216001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4" idx="2"/>
            <a:endCxn id="15" idx="0"/>
          </p:cNvCxnSpPr>
          <p:nvPr/>
        </p:nvCxnSpPr>
        <p:spPr>
          <a:xfrm flipH="1">
            <a:off x="1367999" y="1908000"/>
            <a:ext cx="2232001" cy="360000"/>
          </a:xfrm>
          <a:prstGeom prst="bentConnector3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5" idx="3"/>
            <a:endCxn id="16" idx="1"/>
          </p:cNvCxnSpPr>
          <p:nvPr/>
        </p:nvCxnSpPr>
        <p:spPr>
          <a:xfrm flipV="1">
            <a:off x="2375999" y="2601000"/>
            <a:ext cx="252001" cy="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16" idx="3"/>
            <a:endCxn id="17" idx="1"/>
          </p:cNvCxnSpPr>
          <p:nvPr/>
        </p:nvCxnSpPr>
        <p:spPr>
          <a:xfrm flipV="1">
            <a:off x="4643999" y="2601000"/>
            <a:ext cx="252001" cy="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41999" y="2070000"/>
            <a:ext cx="720000" cy="18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解沿用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0000" y="2070000"/>
            <a:ext cx="720000" cy="18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解沿用</a:t>
            </a:r>
          </a:p>
        </p:txBody>
      </p:sp>
      <p:cxnSp>
        <p:nvCxnSpPr>
          <p:cNvPr id="27" name="Connector 26"/>
          <p:cNvCxnSpPr>
            <a:stCxn id="15" idx="2"/>
            <a:endCxn id="18" idx="0"/>
          </p:cNvCxnSpPr>
          <p:nvPr/>
        </p:nvCxnSpPr>
        <p:spPr>
          <a:xfrm>
            <a:off x="1367999" y="2934000"/>
            <a:ext cx="2232001" cy="414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16" idx="2"/>
            <a:endCxn id="18" idx="0"/>
          </p:cNvCxnSpPr>
          <p:nvPr/>
        </p:nvCxnSpPr>
        <p:spPr>
          <a:xfrm flipH="1">
            <a:off x="3600000" y="2934000"/>
            <a:ext cx="35999" cy="414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17" idx="2"/>
            <a:endCxn id="18" idx="0"/>
          </p:cNvCxnSpPr>
          <p:nvPr/>
        </p:nvCxnSpPr>
        <p:spPr>
          <a:xfrm flipH="1">
            <a:off x="3600000" y="2934000"/>
            <a:ext cx="2303999" cy="414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18" idx="2"/>
            <a:endCxn id="19" idx="0"/>
          </p:cNvCxnSpPr>
          <p:nvPr/>
        </p:nvCxnSpPr>
        <p:spPr>
          <a:xfrm flipH="1">
            <a:off x="3600000" y="3924000"/>
            <a:ext cx="0" cy="216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19" idx="2"/>
            <a:endCxn id="20" idx="0"/>
          </p:cNvCxnSpPr>
          <p:nvPr/>
        </p:nvCxnSpPr>
        <p:spPr>
          <a:xfrm flipH="1">
            <a:off x="3600000" y="4553999"/>
            <a:ext cx="0" cy="198001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18" idx="1"/>
            <a:endCxn id="15" idx="1"/>
          </p:cNvCxnSpPr>
          <p:nvPr/>
        </p:nvCxnSpPr>
        <p:spPr>
          <a:xfrm flipH="1" flipV="1">
            <a:off x="360000" y="2601000"/>
            <a:ext cx="864000" cy="1035000"/>
          </a:xfrm>
          <a:prstGeom prst="bentConnector3">
            <a:avLst/>
          </a:prstGeom>
          <a:ln w="900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5999" y="3690000"/>
            <a:ext cx="1080000" cy="180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不一致 → 回到建模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999" y="5220000"/>
            <a:ext cx="6696000" cy="162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画法依据：44 篇官方展示论文中 52% 有流程图，平均 2.3 张（总体一张 + 每问一张）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1999" y="90000"/>
            <a:ext cx="6696000" cy="25199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Qi 求解流程（每问复制一页，改标题与框内文字）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324000" y="450000"/>
            <a:ext cx="151200" cy="108000"/>
          </a:xfrm>
          <a:prstGeom prst="rect">
            <a:avLst/>
          </a:prstGeom>
          <a:solidFill>
            <a:srgbClr val="F3F2EE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11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6000" y="450000"/>
            <a:ext cx="151200" cy="108000"/>
          </a:xfrm>
          <a:prstGeom prst="rect">
            <a:avLst/>
          </a:prstGeom>
          <a:solidFill>
            <a:srgbClr val="E3EEFB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43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处理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2988000" y="450000"/>
            <a:ext cx="151200" cy="108000"/>
          </a:xfrm>
          <a:prstGeom prst="rect">
            <a:avLst/>
          </a:prstGeom>
          <a:solidFill>
            <a:srgbClr val="E6F3EC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175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建模求解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0" y="450000"/>
            <a:ext cx="151200" cy="108000"/>
          </a:xfrm>
          <a:prstGeom prst="rect">
            <a:avLst/>
          </a:prstGeom>
          <a:solidFill>
            <a:srgbClr val="FAECEB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07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校验回检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2000" y="450000"/>
            <a:ext cx="151200" cy="108000"/>
          </a:xfrm>
          <a:prstGeom prst="rect">
            <a:avLst/>
          </a:prstGeom>
          <a:solidFill>
            <a:srgbClr val="FDF3D8"/>
          </a:solidFill>
          <a:ln w="54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39200" y="406799"/>
            <a:ext cx="1044000" cy="198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4000" y="756000"/>
            <a:ext cx="3168000" cy="630000"/>
          </a:xfrm>
          <a:prstGeom prst="roundRect">
            <a:avLst/>
          </a:prstGeom>
          <a:solidFill>
            <a:srgbClr val="F3F2EE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上游结果 + 附件第 X 列 + 题给参数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24000" y="1655999"/>
            <a:ext cx="3168000" cy="630000"/>
          </a:xfrm>
          <a:prstGeom prst="roundRect">
            <a:avLst/>
          </a:prstGeom>
          <a:solidFill>
            <a:srgbClr val="E6F3EC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数学模型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决策变量 / 目标函数 / 约束（符号级）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24000" y="2556000"/>
            <a:ext cx="3168000" cy="630000"/>
          </a:xfrm>
          <a:prstGeom prst="roundRect">
            <a:avLst/>
          </a:prstGeom>
          <a:solidFill>
            <a:srgbClr val="E6F3EC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求解算法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算法名 + 关键参数 + 收敛判据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24000" y="3456000"/>
            <a:ext cx="3168000" cy="630000"/>
          </a:xfrm>
          <a:prstGeom prst="roundRect">
            <a:avLst/>
          </a:prstGeom>
          <a:solidFill>
            <a:srgbClr val="FAECEB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自检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恒等式 / 量纲 / 极限情形 / 逐自由度覆盖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24000" y="4356000"/>
            <a:ext cx="3168000" cy="630000"/>
          </a:xfrm>
          <a:prstGeom prst="roundRect">
            <a:avLst/>
          </a:prstGeom>
          <a:solidFill>
            <a:srgbClr val="FDF3D8"/>
          </a:solidFill>
          <a:ln w="72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050" b="1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结果与分析</a:t>
            </a:r>
          </a:p>
          <a:p>
            <a:pPr algn="ctr"/>
            <a:r>
              <a:rPr sz="950" b="0">
                <a:solidFill>
                  <a:srgbClr val="0B0B0B"/>
                </a:solidFill>
                <a:latin typeface="微软雅黑"/>
                <a:ea typeface="微软雅黑"/>
                <a:cs typeface="微软雅黑"/>
              </a:rPr>
              <a:t>表 + 图 + 一段「这说明什么」的分析</a:t>
            </a:r>
          </a:p>
        </p:txBody>
      </p:sp>
      <p:cxnSp>
        <p:nvCxnSpPr>
          <p:cNvPr id="18" name="Connector 17"/>
          <p:cNvCxnSpPr>
            <a:stCxn id="13" idx="2"/>
            <a:endCxn id="14" idx="0"/>
          </p:cNvCxnSpPr>
          <p:nvPr/>
        </p:nvCxnSpPr>
        <p:spPr>
          <a:xfrm flipH="1">
            <a:off x="3708000" y="1386000"/>
            <a:ext cx="0" cy="269999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4" idx="2"/>
            <a:endCxn id="15" idx="0"/>
          </p:cNvCxnSpPr>
          <p:nvPr/>
        </p:nvCxnSpPr>
        <p:spPr>
          <a:xfrm flipH="1">
            <a:off x="3708000" y="2285999"/>
            <a:ext cx="0" cy="270001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5" idx="2"/>
            <a:endCxn id="16" idx="0"/>
          </p:cNvCxnSpPr>
          <p:nvPr/>
        </p:nvCxnSpPr>
        <p:spPr>
          <a:xfrm flipH="1">
            <a:off x="3708000" y="3186000"/>
            <a:ext cx="0" cy="270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6" idx="2"/>
            <a:endCxn id="17" idx="0"/>
          </p:cNvCxnSpPr>
          <p:nvPr/>
        </p:nvCxnSpPr>
        <p:spPr>
          <a:xfrm flipH="1">
            <a:off x="3708000" y="4086000"/>
            <a:ext cx="0" cy="270000"/>
          </a:xfrm>
          <a:prstGeom prst="line">
            <a:avLst/>
          </a:prstGeom>
          <a:ln w="9000">
            <a:solidFill>
              <a:srgbClr val="5251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stCxn id="16" idx="3"/>
            <a:endCxn id="14" idx="3"/>
          </p:cNvCxnSpPr>
          <p:nvPr/>
        </p:nvCxnSpPr>
        <p:spPr>
          <a:xfrm flipV="1" flipH="1">
            <a:off x="5292000" y="1970999"/>
            <a:ext cx="0" cy="1800001"/>
          </a:xfrm>
          <a:prstGeom prst="bentConnector3">
            <a:avLst/>
          </a:prstGeom>
          <a:ln w="9000">
            <a:solidFill>
              <a:srgbClr val="52514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00000" y="2124000"/>
            <a:ext cx="1655999" cy="396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自检不过</a:t>
            </a:r>
          </a:p>
          <a:p>
            <a:pPr algn="ctr"/>
            <a:r>
              <a:rPr sz="7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→ 改模型，不是改数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" y="1080000"/>
            <a:ext cx="1980000" cy="1655999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8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写论文时对着这张图查：</a:t>
            </a:r>
          </a:p>
          <a:p>
            <a:pPr algn="l"/>
            <a:r>
              <a:rPr sz="7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 algn="l"/>
            <a:r>
              <a:rPr sz="7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算法框空着 → 论文缺「具体算法」</a:t>
            </a:r>
          </a:p>
          <a:p>
            <a:pPr algn="l"/>
            <a:r>
              <a:rPr sz="7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自检框空着 → 缺自检，或写成了「局限」</a:t>
            </a:r>
          </a:p>
          <a:p>
            <a:pPr algn="l"/>
            <a:r>
              <a:rPr sz="70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· 分析框只有表 → 缺「这说明什么」的那段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999" y="5220000"/>
            <a:ext cx="6696000" cy="1620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750" b="0">
                <a:solidFill>
                  <a:srgbClr val="52514E"/>
                </a:solidFill>
                <a:latin typeface="微软雅黑"/>
                <a:ea typeface="微软雅黑"/>
                <a:cs typeface="微软雅黑"/>
              </a:rPr>
              <a:t>官方连年点名：计算方法不清楚 / 没有给出具体算法 / 没有对结果进行分析（2022A 评阅问题 9 条里 5 条是呈现类）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